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</a:defRPr>
            </a:pPr>
            <a:r>
              <a:t>🌱 NEXTFARM AI ASSISTANT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BÁO CÁO TỔNG KẾT KỸ THUẬT</a:t>
            </a:r>
          </a:p>
          <a:p>
            <a:pPr>
              <a:spcAft>
                <a:spcPts val="2000"/>
              </a:spcAft>
              <a:defRPr sz="2000">
                <a:solidFill>
                  <a:srgbClr val="94A3B8"/>
                </a:solidFill>
              </a:defRPr>
            </a:pPr>
            <a:r>
              <a:t>Bài Toán A: Chống Bịa Đặt &amp; Đảm Bảo An Toàn Trợ Lý Nông Nghiệp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PoC Giai Đoạn 1 &amp; 2 Hoàn Tất 100% · 367/367 Unit Tests PASSED · Tháng 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Bối Cảnh &amp; 4 Hiện Tượng Rủi Ro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A1: Bịa Số Liệu Cảm Biến Vườn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LLM trần tự đoán độ ẩm 75%, 30°C dù không có cảm biến.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Nguy cơ: Làm úng cây, cháy lá, chết hoa mùa vụ.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✓ Giải pháp: Intent Router nhận diện và chặn ngay (0 token, 1ms).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A2: Bịa Tính Năng Ứng Dụng NextFarm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LLM tự nhận app có dự báo giá nông sản, kết nối cân...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Nguy cơ: Gây hiểu lầm tính năng sản phẩm và khiếu nại dịch vụ.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✓ Giải pháp: Phân loại product_feature và từ chối rõ ràng.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A3: Sai Cây Trồng &amp; Vùng Miền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Áp thời vụ miền Bắc cho miền Tây; tư vấn cây ngoài phạm vi.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Nguy cơ: Sai lệch quy trình canh tác nghiêm trọng.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✓ Giải pháp: Scope Check chặn cứng 3 cây; RRF cộng điểm vùng.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A4: Tiếng Việt Không Dấu &amp; Thổ Ngữ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Nông dân gõ 'ca chua bi sau', LLM đoán sai dấu hoặc nhầm 'kg'.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Nguy cơ: Kê sai loại thuốc hoặc sai liều lượng phân bón.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✓ Giải pháp: Chuẩn hoá 4 lớp + Trigram matching tầng CSDL.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Kiến Trúc Pipeline 7 Chặng &amp; 3 Tầng Guardrail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4630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1. Chuẩn Hoá (0ms): </a:t>
            </a:r>
            <a:r>
              <a:rPr sz="1050">
                <a:solidFill>
                  <a:srgbClr val="64748B"/>
                </a:solidFill>
              </a:rPr>
              <a:t>Unicode NFC, hạ chữ thường, từ điển đồng nghĩa nông học.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1488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2. Intent Router (5ms): </a:t>
            </a:r>
            <a:r>
              <a:rPr sz="1050">
                <a:solidFill>
                  <a:srgbClr val="64748B"/>
                </a:solidFill>
              </a:rPr>
              <a:t>Tầng 1 Rule-based chặn 141 ca sớm; Tầng 2 LLM Few-shot Router.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8346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3. Scope Check (4ms): </a:t>
            </a:r>
            <a:r>
              <a:rPr sz="1050">
                <a:solidFill>
                  <a:srgbClr val="64748B"/>
                </a:solidFill>
              </a:rPr>
              <a:t>Kiểm soát cứng 3 cây trồng: Lúa, Cà chua, Dưa chuột.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5204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4. Hybrid RRF (12ms): </a:t>
            </a:r>
            <a:r>
              <a:rPr sz="1050">
                <a:solidFill>
                  <a:srgbClr val="64748B"/>
                </a:solidFill>
              </a:rPr>
              <a:t>FTS + Trigram + Vector Local; Cổng kiểm duyệt view indexable_chunk.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2062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5. Evidence Pack: </a:t>
            </a:r>
            <a:r>
              <a:rPr sz="1050">
                <a:solidFill>
                  <a:srgbClr val="64748B"/>
                </a:solidFill>
              </a:rPr>
              <a:t>Đóng gói JSON ngữ cảnh nguyên văn có chunk_id và Source Tier.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920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48920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6. LLM Generator: </a:t>
            </a:r>
            <a:r>
              <a:rPr sz="1050">
                <a:solidFill>
                  <a:srgbClr val="64748B"/>
                </a:solidFill>
              </a:rPr>
              <a:t>Gemini 3.1 Flash Lite sinh câu trả lời kèm mã trích dẫn [cid].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4572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5577840"/>
            <a:ext cx="10058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F172A"/>
                </a:solidFill>
              </a:rPr>
              <a:t>7. Grounding Validator: </a:t>
            </a:r>
            <a:r>
              <a:rPr sz="1050">
                <a:solidFill>
                  <a:srgbClr val="64748B"/>
                </a:solidFill>
              </a:rPr>
              <a:t>Rào chắn cuối: Kiểm tra JSON trích dẫn &amp; đối soát số liệu tất định.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Quản Trị Kho Tri Thức &amp; Quy Trình Kiểm Duyệt 2 Luồng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Tài Liệu Khuyến Nông (18/31 Đã Duyệt)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Thu thập chính thống từ các cổng thông tin .gov.vn.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18 tài liệu hướng dẫn kỹ thuật chuẩn đã được phê duyệt.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13 tài liệu dạng tin bài tổng hợp/tin hoạt động bị loại bỏ.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Kho RAG Indexable (185/292 Chunks)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185 chunks kỹ thuật chuẩn mở khóa vào kho tìm kiếm.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Lúa: 87 chunks · Dưa chuột: 62 chunks · Cà chua: 36 chunks.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Khóa chặt bằng mã băm SHA-256 (DEC-005).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Chunk Rủi Ro Cao (31 Chunk Duyệt Lẻ)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Chứa liều lượng phân bón, thuốc BVTV, nồng độ hoạt chất.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24 chunk đạt chuẩn được cấp phép; 7 chunk bị loại bỏ.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Trạng thái: 100% chunk rủi ro đã được xử lý (0 chunk chờ).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Dữ Liệu Ground Truth (65/141 Facts)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65 fact số liệu chuẩn về độ pH, lượng giống, đợt bón thúc.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Xác thực thủ công làm ground truth để kiểm thử tự động.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Grounding Validator dùng fact này để so khớp tất định.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Tối Ưu Hoá &amp; Giải Quyết 3 Tham Số Kỹ Thuật §40.2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Mục 4: Sweep Kích Thước Chunk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Thực nghiệm 4 dải: 800, 1000, 1200, 1500 ký tự.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Đo trên 18 tài liệu &amp; 141 facts.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Kết quả: 1.200 ký tự đạt 100% Fact Coverage &amp; 100% Hit Rate.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Quyết định: Giữ chuẩn 1.200 ký tự, không làm rách bảng phân bón.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Báo cáo: P16_chunk_size_sweep.md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Mục 9: LLM Few-Shot Router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Bổ sung tầng LLMFewShotRouter khi rule-based không chắc chắn.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Tích hợp 35+ ví dụ mẫu chuẩn hóa theo 6 intent.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Áp dụng quy tắc thiên lệch an toàn §11.4.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Tính xác suất tin cậy softmax thực (0.85 - 0.95).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Bảo đảm 100% an toàn cho câu hỏi lệnh thiết bị.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Mục 11: Trọng Số Vùng Miền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Xây dựng bộ 30 test case đặc thù vùng miền.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Quét dải hệ số ưu tiên từ 0.00 đến 0.30.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Kết quả: he_so = 0.10 nâng Top-1 khớp vùng lên 63.3%, Top-3 đạt 73.3%.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Không làm méo mó xếp hạng tài liệu liên quan.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Báo cáo: P17_region_weighting_sweep.md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Bảng Đối Chứng Định Lượng (C0 · C1 · C2)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377440"/>
                <a:gridCol w="2377440"/>
                <a:gridCol w="246888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Chỉ Số Đo Lường (222 Test Cases)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C0: LLM Trần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C1: RAG Thuần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C2: NextFarm PoC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Số ca bịa số liệu nông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61 ca (27.5%)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23 ca (10.4%)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 ca (0.0% Triệt tiêu)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Tỷ lệ trả lời sai (False Answer Rate)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77.0%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Độ chính xác khi trả lời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Bắt ca cần từ chối (Abstention 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69.6%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100.0% (148/148 ca)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Độ trễ trung vị (p50)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2.621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2.555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15 ms (Giảm 99.4%)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Chi phí API / 222 câu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$0.0369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$0.1231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$0.0527 (~$0.0002/câu)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Kết Quả Chấm Chuyên Gia C2 (50 Câu Thực Tế)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Điểm Sáng &amp; Chất Lượng Thực Tế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Chấm thật bởi Đội kỹ thuật NextFarm.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Đọc nguyên văn câu trả lời thực tế của hệ thống.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Trích dẫn đúng 100% tài liệu gốc cho câu trả lời chuẩn (pH 6.0-6.5, ngâm hạt 40-50°C).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Từ chối bẫy kê đơn thuốc BVTV và bẫy bò lan chính xác.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Điểm số phân hóa tự nhiên theo 8+ tổ hợp thực tế.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Nhận Diện Khuyết Điểm Thực Tế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Phát hiện lỗi tại Câu 41 (hỏi độ ẩm) và Câu 42 (hỏi dữ liệu vườn):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Hệ thống bị Scope Check chặn nhầm sang template hỏi lại cây trồng ('can_lam_ro').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Khuyết điểm: Từ chối an toàn nhưng chưa giải thích đúng lý do thiếu cảm biến vườn.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Hạ điểm chuẩn xác (C1:3, C2:2, C3:2) để phản ánh trung thực thực trạng.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Đóng Gói Sản Xuất &amp; Đảm Bảo Chất Lượng (Production Ready)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Đóng Gói Docker Compose 1 Lệnh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Dockerfile Python 3.11-slim tối ưu, non-root user nextfarm.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docker-compose.prod.yml gồm 2 container: App + DB pgvector.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Tích hợp healthcheck và network cô lập an toàn.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Bảo Mật &amp; Local Embedding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Embedding chạy 100% On-Premise, không gửi kho tri thức ra ngoài.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Cửa kiểm soát quyền hạn /admin mặc định an toàn.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Biến môi trường và API keys được cô lập tuyệt đối.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Bộ Kiểm Thử Tự Động (367 Tests Xanh)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367 Unit Tests kiểm định toàn bộ pipeline.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Phủ từ Chuẩn hóa, Intent Router, Scope, Retrieval đến Grounding.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Tự động chạy và đồng bộ trên CI/CD.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4 Giao Diện Web Đa Dạng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Trang Chat nông dân (/) · Trang Quản trị (/admin).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Trang Báo cáo kỹ thuật (/report) · Trang Chấm điểm (/expert).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Hỗ trợ giao diện Sáng / Tối và thiết kế đáp ứng (Responsive).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NEXTFARM AI — BÀI TOÁN A: CHỐNG BỊA ĐẶT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Giới Hạn Đã Biết &amp; Lộ Trình Mở Rộng Tiếp Theo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Giới Hạn Đã Biết (Trung Thực &amp; Minh Bạch)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1. Chưa kết nối API cảm biến IoT vườn thật: PoC Bài toán A tập trung chống bịa đặt nên tạm thời từ chối câu hỏi dữ liệu vườn.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2. Chưa có tài liệu sản phẩm riêng NextFarm: Câu hỏi bảng giá thiết bị đang được phân loại vào product_feature.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3. Fine-tuning self-host (P12): Cần GPU chuyên dụng (≥16GB VRAM) nếu muốn tự host hoàn toàn LLM thay vì dùng API.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4. Kho tri thức hiện tại tập trung vào 3 cây trồng chủ lực: Lúa, Cà chua, Dưa chuột (185 chunks indexable).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Lộ Trình Phát Triển Giai Đoạn Tiếp Theo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Giai Đoạn 1.5 (Hiện Tại):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• Đóng gói Docker, bàn giao mã nguồn &amp; báo cáo tổng kết.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Giai Đoạn 2 (Mở Rộng Canh Tác):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• Mở rộng kho tri thức cho cây ăn quả/công nghiệp (Sầu riêng, Xoài, Cà phê, Hồ tiêu...) lên 2.000+ chunks.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• Tích hợp cẩm nang sản phẩm NextFarm.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Giai Đoạn 3 (Hệ Sinh Thái IoT):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• Kết nối API trạm đo thực tế theo từng vườn (Bài toán B).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• Thiết lập xác thực 2 lớp (2FA) cho lệnh điều khiển bơm/van.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16A34A"/>
                </a:solidFill>
              </a:defRPr>
            </a:pPr>
            <a:r>
              <a:t>TỔNG KẾT &amp; BÀN GIAO DỰ ÁN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Triệt tiêu 100% hiện tượng bịa số liệu nông học (61 ca -&gt; 0 ca).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Bắt đúng 100% ca cần từ chối (148/148 ca bẫy và ngoài phạm vi).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Tốc độ xử lý p50 đạt 15ms (giảm 99.4% thời gian phản hồi).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Đóng gói Docker Compose sản xuất hoàn chỉnh 1 lệnh.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Toàn bộ 367 Unit Tests tự động xanh 100% và sẵn sàng vận hành.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